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>
        <p:scale>
          <a:sx n="75" d="100"/>
          <a:sy n="75" d="100"/>
        </p:scale>
        <p:origin x="974" y="2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D51AE-6EF6-018F-A0A5-93097865E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0EF08-DFA8-E420-E3DD-9054BFCDD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68733-6D03-BEBE-D7AF-5386789E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E670-02DE-4DE9-81D0-A092E2A879B3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94C60-4387-6F05-B35E-E0CECC7D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4727B-23F2-DF6A-AD1F-83AE9975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5A9D-C676-4201-8DC7-02AEA5BE1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37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7FBB3-EB3F-A156-4D73-30E1C893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4EE74-ACF4-DB4E-0246-7678C6A85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0FA2C-A4F1-0FCA-52B1-585637C89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E670-02DE-4DE9-81D0-A092E2A879B3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1EE16-D5E4-34EE-E39E-E795BEE7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444B3-5F36-A64F-DFC1-C7F04854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5A9D-C676-4201-8DC7-02AEA5BE1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28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B3EC8-8FAE-55FB-4F60-0BB9A114D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46574-745A-884C-11F4-A6788BF2B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9C2C2-5CCA-3511-5754-814465D0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E670-02DE-4DE9-81D0-A092E2A879B3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3BD87-3396-A527-8F85-DAF5334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F1BAE-37B5-A331-C74A-88BB8A99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5A9D-C676-4201-8DC7-02AEA5BE1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30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8D0D-6D57-2CAA-3300-CD5645050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0D43C-19C2-F5A4-021E-BC4BDCF05A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2FA85-862F-E931-7113-CDE6CEF68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830FD-AA40-113E-4884-7978852BC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E670-02DE-4DE9-81D0-A092E2A879B3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2DE20-3B11-55AF-DEDE-2DD379D90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D461A-7532-CFC7-AC40-5EF6FDA5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5A9D-C676-4201-8DC7-02AEA5BE1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23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E1C9E-D2A2-B420-677F-7E2BBD83B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A3A3-B11B-1FFD-BE04-E65991C98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1C241-FCC5-7271-C103-52AC9346F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2AE32-2A6A-029D-CD4A-E148C0147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BD61BB-857F-6DC6-8FE9-7191D7F16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5DC6BE-DAF7-2EBF-275E-6FBA73845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E670-02DE-4DE9-81D0-A092E2A879B3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8B055-BF7E-86C5-1EFB-4A0024ACC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19280-3079-1E52-FBC4-CFB8A7D8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5A9D-C676-4201-8DC7-02AEA5BE1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274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0150-E8F1-8DB0-04F0-05CCBD5D1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72C89-0202-C1B1-8CD0-C90DF872E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E670-02DE-4DE9-81D0-A092E2A879B3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69B25-DB20-F873-0C32-0D2AA7B75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3472C5-50B9-3BC0-9C77-FC83D8E3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5A9D-C676-4201-8DC7-02AEA5BE1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840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14EB6D-C797-D9B7-B12B-714DFEE44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E670-02DE-4DE9-81D0-A092E2A879B3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D5CC0E-6494-5CF4-B615-34ED14BF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191EE-75BA-BBF4-8FBF-0C5E196C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5A9D-C676-4201-8DC7-02AEA5BE1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107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5A2E5-C8A4-A4AE-029E-A659A90EA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0FAAD-4E77-3196-CA24-2FFEBB672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00AB6-A3D3-C622-88C0-2C170D0C0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B7DCD-5ADD-168C-13F5-DE2E2821A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E670-02DE-4DE9-81D0-A092E2A879B3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5F9D5-1FFE-E8C3-C63F-3FB7CC54C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84FBD-4802-CB30-7D61-CA7A5EF6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5A9D-C676-4201-8DC7-02AEA5BE1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42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4019-FADC-F7C3-6CE6-406487FEA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8974D-22B1-115D-6BC9-8CE4AACB14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80EA2-E8F6-1CBB-E46B-913FAE434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BDEF2-9EA8-BA9B-9313-16499ADBC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E670-02DE-4DE9-81D0-A092E2A879B3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7D49D-F13B-7E37-3BC9-F147124D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8B8BD-1C5D-ABA6-7D96-277896BA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5A9D-C676-4201-8DC7-02AEA5BE1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03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13C9C-85F1-3D6E-B010-CBDECFA9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9C88F-ADBE-1625-74A8-6743D9A8C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94904-FBE2-8E06-2761-F7855A56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E670-02DE-4DE9-81D0-A092E2A879B3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D18BC-2EE1-2AF7-0BC7-0744317E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EC989-1F62-FCC6-47D3-8613829D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5A9D-C676-4201-8DC7-02AEA5BE1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433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E04440-484D-538F-5A5A-4D4481A2D9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27CEF5-94A7-8A10-5D5C-065B74092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681A3-5D8A-FF8A-CD61-99C2364E9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E670-02DE-4DE9-81D0-A092E2A879B3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50017-5192-38F4-8D75-7619D131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82454-37FD-9AA5-45F9-6D2D886E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5A9D-C676-4201-8DC7-02AEA5BE1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340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3FA489-C058-D140-07EB-BF76B1DE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9F208-1484-7159-E08F-52486E2D6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CC865-B243-9170-5760-3FF70F4E96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4E670-02DE-4DE9-81D0-A092E2A879B3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7A75D-1E7D-9E78-0B99-8519F157F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91E5B-679E-784B-D538-F15714B4D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A5A9D-C676-4201-8DC7-02AEA5BE1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5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sunitatools.com/artillery-shells.php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www.aimt.cz/index.php/aimt/article/download/1718/186/559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NZOEgFLCvLU" TargetMode="External"/><Relationship Id="rId5" Type="http://schemas.openxmlformats.org/officeDocument/2006/relationships/hyperlink" Target="https://pen.ius.edu.ba/index.php/pen/article/download/19/19/38" TargetMode="External"/><Relationship Id="rId4" Type="http://schemas.openxmlformats.org/officeDocument/2006/relationships/hyperlink" Target="https://knds.com/en/products/systems/rch-155-track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7EBBB26-62FB-958F-0BC5-52389BD7E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885432" y="2007256"/>
            <a:ext cx="4675632" cy="42692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D741E9-07DD-2CB8-48D6-04D041F95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432" y="108012"/>
            <a:ext cx="9144000" cy="958787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latin typeface="Bell MT" panose="02020503060305020303" pitchFamily="18" charset="0"/>
              </a:rPr>
              <a:t>Smart India Hackathon 2026</a:t>
            </a:r>
            <a:endParaRPr lang="en-IN" u="sng" dirty="0">
              <a:latin typeface="Bell MT" panose="020205030603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A3998-3EDA-23BD-84C6-6C460DD7F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696" y="1242886"/>
            <a:ext cx="6513576" cy="3420554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Century Gothic" panose="020B0502020202020204" pitchFamily="34" charset="0"/>
                <a:cs typeface="Arial" panose="020B0604020202020204" pitchFamily="34" charset="0"/>
              </a:rPr>
              <a:t>Problem Statement ID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800" dirty="0">
                <a:latin typeface="Bahnschrift" panose="020B0502040204020203" pitchFamily="34" charset="0"/>
              </a:rPr>
              <a:t>98</a:t>
            </a:r>
          </a:p>
          <a:p>
            <a:pPr algn="just"/>
            <a:r>
              <a:rPr lang="en-US" sz="1800" dirty="0">
                <a:latin typeface="Century Gothic" panose="020B0502020202020204" pitchFamily="34" charset="0"/>
                <a:cs typeface="Arial" panose="020B0604020202020204" pitchFamily="34" charset="0"/>
              </a:rPr>
              <a:t>Problem Statement Title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sz="1800" dirty="0">
                <a:latin typeface="Bahnschrift" panose="020B0502040204020203" pitchFamily="34" charset="0"/>
              </a:rPr>
              <a:t>Development of a Low-Cost Precision Guidance and Smart Electronic </a:t>
            </a:r>
            <a:r>
              <a:rPr lang="en-IN" sz="1800" dirty="0" err="1">
                <a:latin typeface="Bahnschrift" panose="020B0502040204020203" pitchFamily="34" charset="0"/>
              </a:rPr>
              <a:t>Fuze</a:t>
            </a:r>
            <a:r>
              <a:rPr lang="en-IN" sz="1800" dirty="0">
                <a:latin typeface="Bahnschrift" panose="020B0502040204020203" pitchFamily="34" charset="0"/>
              </a:rPr>
              <a:t> System for a 155 mm Artillery Shell</a:t>
            </a:r>
          </a:p>
          <a:p>
            <a:pPr algn="just"/>
            <a:r>
              <a:rPr lang="en-IN" sz="1800" dirty="0">
                <a:latin typeface="Century Gothic" panose="020B0502020202020204" pitchFamily="34" charset="0"/>
              </a:rPr>
              <a:t>Theme- </a:t>
            </a:r>
            <a:r>
              <a:rPr lang="en-IN" sz="1800" dirty="0">
                <a:latin typeface="Bahnschrift" panose="020B0502040204020203" pitchFamily="34" charset="0"/>
              </a:rPr>
              <a:t>Smart Vehicles</a:t>
            </a:r>
          </a:p>
          <a:p>
            <a:pPr algn="just"/>
            <a:r>
              <a:rPr lang="en-IN" sz="1800" dirty="0">
                <a:latin typeface="Century Gothic" panose="020B0502020202020204" pitchFamily="34" charset="0"/>
              </a:rPr>
              <a:t>PS Category </a:t>
            </a:r>
            <a:r>
              <a:rPr lang="en-IN" sz="1800" dirty="0"/>
              <a:t>– </a:t>
            </a:r>
            <a:r>
              <a:rPr lang="en-IN" sz="1800" dirty="0">
                <a:latin typeface="Bahnschrift" panose="020B0502040204020203" pitchFamily="34" charset="0"/>
              </a:rPr>
              <a:t>Hardware</a:t>
            </a:r>
          </a:p>
          <a:p>
            <a:pPr algn="just"/>
            <a:r>
              <a:rPr lang="en-IN" sz="1800" dirty="0">
                <a:latin typeface="Century Gothic" panose="020B0502020202020204" pitchFamily="34" charset="0"/>
              </a:rPr>
              <a:t>Team ID </a:t>
            </a:r>
            <a:r>
              <a:rPr lang="en-IN" sz="1800" dirty="0"/>
              <a:t>– </a:t>
            </a:r>
            <a:r>
              <a:rPr lang="en-IN" sz="1800" dirty="0">
                <a:latin typeface="Bahnschrift" panose="020B0502040204020203" pitchFamily="34" charset="0"/>
              </a:rPr>
              <a:t>R15-230</a:t>
            </a:r>
          </a:p>
          <a:p>
            <a:pPr algn="just"/>
            <a:r>
              <a:rPr lang="en-IN" sz="1800" dirty="0">
                <a:latin typeface="Century Gothic" panose="020B0502020202020204" pitchFamily="34" charset="0"/>
              </a:rPr>
              <a:t>Team Name </a:t>
            </a:r>
            <a:r>
              <a:rPr lang="en-IN" sz="1800" dirty="0"/>
              <a:t>- </a:t>
            </a:r>
            <a:r>
              <a:rPr lang="en-IN" sz="1800" dirty="0">
                <a:latin typeface="Bahnschrift" panose="020B0502040204020203" pitchFamily="34" charset="0"/>
              </a:rPr>
              <a:t>Tenacity</a:t>
            </a:r>
          </a:p>
          <a:p>
            <a:pPr algn="just"/>
            <a:endParaRPr lang="en-IN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3DD049-44A4-A407-BFD7-8F7112C8B7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9107" y="155583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301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2B717B99-24A4-538F-8B1F-9BEB665A2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652" y="2491097"/>
            <a:ext cx="4573393" cy="18758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AC4E800-CC62-D95A-9C1C-E68659015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7"/>
            <a:ext cx="2862072" cy="760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DD9289-C484-3D24-0A71-E48F4DD71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393" y="9279"/>
            <a:ext cx="7586258" cy="1062337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latin typeface="Bell MT" panose="02020503060305020303" pitchFamily="18" charset="0"/>
              </a:rPr>
              <a:t>VECTOR</a:t>
            </a:r>
            <a:endParaRPr lang="en-IN" sz="1500" dirty="0">
              <a:latin typeface="Bell MT" panose="020205030603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94E5F-9DB8-9D44-7F95-07F0DC832E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5683" y="9279"/>
            <a:ext cx="2249850" cy="10623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FCF05B-79EA-592E-7D0B-281204EED0CF}"/>
              </a:ext>
            </a:extLst>
          </p:cNvPr>
          <p:cNvSpPr txBox="1"/>
          <p:nvPr/>
        </p:nvSpPr>
        <p:spPr>
          <a:xfrm>
            <a:off x="248412" y="1071616"/>
            <a:ext cx="1169517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latin typeface="Bahnschrift" panose="020B0502040204020203" pitchFamily="34" charset="0"/>
                <a:cs typeface="Arial" pitchFamily="34" charset="0"/>
              </a:rPr>
              <a:t>A PID- &amp; ML-based Anti-Jamming SWAP-C E-stack, with power generator &amp; Object Classifier, Servo-controlled flaps providing Aerodynamic Stabilization to a 155mm Shell Trajectory.</a:t>
            </a:r>
          </a:p>
          <a:p>
            <a:pPr marL="342900" indent="-342900"/>
            <a:r>
              <a:rPr lang="en-US" sz="1600" dirty="0">
                <a:latin typeface="Century Gothic" panose="020B0502020202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Detailed explanation: </a:t>
            </a:r>
            <a:r>
              <a:rPr lang="en-US" sz="1200" dirty="0">
                <a:latin typeface="Bahnschrift" panose="020B0502040204020203" pitchFamily="34" charset="0"/>
                <a:cs typeface="Arial" pitchFamily="34" charset="0"/>
              </a:rPr>
              <a:t>The E-Stack sits inside Ogive (Top cone) decoupled with the shell body and supported with ball bearings. It contains a Mems IMU, Barometer &amp; GNSS module sending flight data to MCU which calculates the desired trajectory and corrects error in flight using servo-controlled flaps. Entire E-stack runs on power generated via stationary Coil of wire and Magnets spinning along with the shell. PID (</a:t>
            </a:r>
            <a:r>
              <a:rPr lang="en-IN" sz="1200" dirty="0">
                <a:latin typeface="Bahnschrift" panose="020B0502040204020203" pitchFamily="34" charset="0"/>
              </a:rPr>
              <a:t>Proportional–Integral–Derivative</a:t>
            </a:r>
            <a:r>
              <a:rPr lang="en-US" sz="1200" dirty="0">
                <a:latin typeface="Bahnschrift" panose="020B0502040204020203" pitchFamily="34" charset="0"/>
                <a:cs typeface="Arial" pitchFamily="34" charset="0"/>
              </a:rPr>
              <a:t>) and EKF (</a:t>
            </a:r>
            <a:r>
              <a:rPr lang="en-IN" sz="1200" dirty="0">
                <a:latin typeface="Bahnschrift" panose="020B0502040204020203" pitchFamily="34" charset="0"/>
              </a:rPr>
              <a:t>Extended Kalman Filter</a:t>
            </a:r>
            <a:r>
              <a:rPr lang="en-US" sz="1200" dirty="0">
                <a:latin typeface="Bahnschrift" panose="020B0502040204020203" pitchFamily="34" charset="0"/>
                <a:cs typeface="Arial" pitchFamily="34" charset="0"/>
              </a:rPr>
              <a:t>) are used as mathematical algorithms for error correction. A multi-spectral IR sensor classifies objects thus bypasses decoys. Custom PDB and FPC (Flexible Printed Circuits) are used covered with Epoxy Resin to handle high G-force and pressure.</a:t>
            </a:r>
          </a:p>
          <a:p>
            <a:pPr marL="0" indent="0" algn="ctr">
              <a:buNone/>
            </a:pPr>
            <a:endParaRPr lang="en-US" sz="1600" dirty="0">
              <a:latin typeface="Bahnschrift" panose="020B0502040204020203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AD2AB-8AFB-FBE3-88E0-34F90ECD9BB6}"/>
              </a:ext>
            </a:extLst>
          </p:cNvPr>
          <p:cNvSpPr txBox="1"/>
          <p:nvPr/>
        </p:nvSpPr>
        <p:spPr>
          <a:xfrm>
            <a:off x="99769" y="4183312"/>
            <a:ext cx="5524606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/>
            <a:r>
              <a:rPr lang="en-US" sz="1600" dirty="0">
                <a:latin typeface="Century Gothic" panose="020B0502020202020204" pitchFamily="34" charset="0"/>
                <a:cs typeface="Arial" pitchFamily="34" charset="0"/>
              </a:rPr>
              <a:t>How it addresses the problem:</a:t>
            </a:r>
          </a:p>
          <a:p>
            <a:pPr marL="457200" indent="-457200">
              <a:buAutoNum type="arabicParenR"/>
            </a:pP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PID and servo-controlled flaps allow shell to be on desired trajectory.</a:t>
            </a:r>
          </a:p>
          <a:p>
            <a:pPr marL="457200" indent="-457200">
              <a:buAutoNum type="arabicParenR"/>
            </a:pP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Sensor readings goes through ML model to detect</a:t>
            </a:r>
            <a:r>
              <a:rPr lang="en-IN" sz="1400" dirty="0">
                <a:latin typeface="Bahnschrift" panose="020B0502040204020203" pitchFamily="34" charset="0"/>
              </a:rPr>
              <a:t> Inconsistent</a:t>
            </a: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 Values and E</a:t>
            </a:r>
            <a:r>
              <a:rPr lang="en-IN" sz="1400" dirty="0" err="1">
                <a:latin typeface="Bahnschrift" panose="020B0502040204020203" pitchFamily="34" charset="0"/>
              </a:rPr>
              <a:t>xtended</a:t>
            </a:r>
            <a:r>
              <a:rPr lang="en-IN" sz="1400" dirty="0">
                <a:latin typeface="Bahnschrift" panose="020B0502040204020203" pitchFamily="34" charset="0"/>
              </a:rPr>
              <a:t> Kalman Filter determines offset and best-fit value providing least possible error.</a:t>
            </a:r>
          </a:p>
          <a:p>
            <a:pPr marL="457200" indent="-457200">
              <a:buAutoNum type="arabicParenR"/>
            </a:pP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Multi-Spectral IR sensor differentiates objects (tank and bird) thus allowing proximity mode </a:t>
            </a:r>
            <a:r>
              <a:rPr lang="en-US" sz="1400" dirty="0" err="1">
                <a:latin typeface="Bahnschrift" panose="020B0502040204020203" pitchFamily="34" charset="0"/>
                <a:cs typeface="Arial" pitchFamily="34" charset="0"/>
              </a:rPr>
              <a:t>fuze</a:t>
            </a: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.</a:t>
            </a:r>
          </a:p>
          <a:p>
            <a:pPr marL="457200" indent="-457200">
              <a:buAutoNum type="arabicParenR"/>
            </a:pP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No battery eliminating any risk of thermal or chemical hazard.</a:t>
            </a:r>
          </a:p>
          <a:p>
            <a:pPr marL="457200" indent="-457200">
              <a:buAutoNum type="arabicParenR"/>
            </a:pP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All algorithms and readings calculation happen inside a compact MCU.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8254FB-698A-810D-5C19-8454FF1DA849}"/>
              </a:ext>
            </a:extLst>
          </p:cNvPr>
          <p:cNvSpPr txBox="1"/>
          <p:nvPr/>
        </p:nvSpPr>
        <p:spPr>
          <a:xfrm>
            <a:off x="6660154" y="4183312"/>
            <a:ext cx="5149702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latin typeface="Century Gothic" panose="020B0502020202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Innovation and uniqueness of the solution</a:t>
            </a:r>
            <a:r>
              <a:rPr lang="en-US" sz="1600" dirty="0">
                <a:latin typeface="Arial" pitchFamily="34" charset="0"/>
                <a:ea typeface="Ebrima" panose="02000000000000000000" pitchFamily="2" charset="0"/>
                <a:cs typeface="Arial" pitchFamily="34" charset="0"/>
              </a:rPr>
              <a:t>: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AutoNum type="arabicParenR"/>
            </a:pPr>
            <a:r>
              <a:rPr lang="en-IN" sz="1500" dirty="0">
                <a:latin typeface="Bahnschrift" panose="020B0502040204020203" pitchFamily="34" charset="0"/>
              </a:rPr>
              <a:t>Electromagnetic generator instead of battery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IN" sz="1500" dirty="0">
                <a:latin typeface="Bahnschrift" panose="020B0502040204020203" pitchFamily="34" charset="0"/>
              </a:rPr>
              <a:t>Custom PDB board designed for 4 servo , 1 MCU</a:t>
            </a:r>
          </a:p>
          <a:p>
            <a:pPr marL="342900" indent="-342900">
              <a:buAutoNum type="arabicParenR"/>
            </a:pPr>
            <a:r>
              <a:rPr lang="en-IN" sz="1500" dirty="0">
                <a:latin typeface="Bahnschrift" panose="020B0502040204020203" pitchFamily="34" charset="0"/>
              </a:rPr>
              <a:t>Decoupled Ogive and Body reducing RPM from 15000 to 200</a:t>
            </a:r>
          </a:p>
          <a:p>
            <a:pPr marL="342900" indent="-342900">
              <a:buAutoNum type="arabicParenR"/>
            </a:pPr>
            <a:r>
              <a:rPr lang="en-IN" sz="1500" dirty="0">
                <a:latin typeface="Bahnschrift" panose="020B0502040204020203" pitchFamily="34" charset="0"/>
              </a:rPr>
              <a:t>Custom PID and EKF algorithm and ML model for negligible errors</a:t>
            </a:r>
          </a:p>
          <a:p>
            <a:pPr marL="342900" indent="-342900">
              <a:buAutoNum type="arabicParenR"/>
            </a:pPr>
            <a:r>
              <a:rPr lang="en-IN" sz="1500" dirty="0">
                <a:latin typeface="Bahnschrift" panose="020B0502040204020203" pitchFamily="34" charset="0"/>
              </a:rPr>
              <a:t>Aerodynamic Model with COP (centre of pressure) behind COG (centre of gravity)</a:t>
            </a:r>
          </a:p>
          <a:p>
            <a:pPr marL="342900" indent="-342900">
              <a:buAutoNum type="arabicParenR"/>
            </a:pPr>
            <a:r>
              <a:rPr lang="en-IN" sz="1500" dirty="0">
                <a:latin typeface="Bahnschrift" panose="020B0502040204020203" pitchFamily="34" charset="0"/>
              </a:rPr>
              <a:t>E-stack sits inside the Ogive making it compatible with existing structure</a:t>
            </a:r>
          </a:p>
        </p:txBody>
      </p:sp>
    </p:spTree>
    <p:extLst>
      <p:ext uri="{BB962C8B-B14F-4D97-AF65-F5344CB8AC3E}">
        <p14:creationId xmlns:p14="http://schemas.microsoft.com/office/powerpoint/2010/main" val="1970078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D94A-9245-D05A-B890-D61168D2B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8F0B-9C98-A1C5-143D-C850F8792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393" y="0"/>
            <a:ext cx="7586258" cy="1062337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latin typeface="Bell MT" panose="02020503060305020303" pitchFamily="18" charset="0"/>
              </a:rPr>
              <a:t>Technical Approach</a:t>
            </a:r>
            <a:endParaRPr lang="en-IN" sz="2200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B21ED-1983-E052-8E9C-BE825DFDF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6" y="365125"/>
            <a:ext cx="2139696" cy="7712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tenacity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F1690-DC88-EF45-203D-924B7CECD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395" y="10051"/>
            <a:ext cx="2249850" cy="10623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58FE1D-0182-65D8-9DE8-CA8054A94D9A}"/>
              </a:ext>
            </a:extLst>
          </p:cNvPr>
          <p:cNvSpPr txBox="1"/>
          <p:nvPr/>
        </p:nvSpPr>
        <p:spPr>
          <a:xfrm>
            <a:off x="5424465" y="1351508"/>
            <a:ext cx="648995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  <a:p>
            <a:pPr marL="0" indent="0" algn="just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1BF1F1-9F39-A1C1-27F0-DD0F21C6E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11"/>
            <a:ext cx="2862072" cy="7602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8743F4-E455-CF10-73DD-21D571E2C7DE}"/>
              </a:ext>
            </a:extLst>
          </p:cNvPr>
          <p:cNvSpPr txBox="1"/>
          <p:nvPr/>
        </p:nvSpPr>
        <p:spPr>
          <a:xfrm>
            <a:off x="265176" y="1125363"/>
            <a:ext cx="6094476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/>
            <a:r>
              <a:rPr lang="en-US" dirty="0">
                <a:latin typeface="Century Gothic" panose="020B0502020202020204" pitchFamily="34" charset="0"/>
                <a:cs typeface="Arial" pitchFamily="34" charset="0"/>
              </a:rPr>
              <a:t>Technologies used:</a:t>
            </a:r>
          </a:p>
          <a:p>
            <a:pPr marL="0" indent="0">
              <a:buNone/>
            </a:pPr>
            <a:r>
              <a:rPr lang="en-US" sz="1600" dirty="0">
                <a:latin typeface="Century Gothic" panose="020B0502020202020204" pitchFamily="34" charset="0"/>
                <a:cs typeface="Arial" pitchFamily="34" charset="0"/>
              </a:rPr>
              <a:t>1) Software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C/C++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Python</a:t>
            </a:r>
          </a:p>
          <a:p>
            <a:pPr marL="0" indent="0">
              <a:buNone/>
            </a:pPr>
            <a:r>
              <a:rPr lang="en-US" sz="1600" dirty="0">
                <a:latin typeface="Century Gothic" panose="020B0502020202020204" pitchFamily="34" charset="0"/>
                <a:cs typeface="Arial" pitchFamily="34" charset="0"/>
              </a:rPr>
              <a:t>2) Algorithm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PID </a:t>
            </a:r>
            <a:r>
              <a:rPr lang="en-IN" sz="1400" dirty="0">
                <a:latin typeface="Bahnschrift" panose="020B0502040204020203" pitchFamily="34" charset="0"/>
              </a:rPr>
              <a:t>Proportional–Integral–Derivative</a:t>
            </a: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EKF (</a:t>
            </a:r>
            <a:r>
              <a:rPr lang="en-IN" sz="1400" dirty="0">
                <a:latin typeface="Bahnschrift" panose="020B0502040204020203" pitchFamily="34" charset="0"/>
              </a:rPr>
              <a:t>Extended Kalman Filter</a:t>
            </a: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)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entury Gothic" panose="020B0502020202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3) Communication 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I2C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UART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PWM</a:t>
            </a:r>
          </a:p>
          <a:p>
            <a:r>
              <a:rPr lang="en-US" sz="1600" dirty="0">
                <a:latin typeface="Century Gothic" panose="020B0502020202020204" pitchFamily="34" charset="0"/>
                <a:cs typeface="Arial" pitchFamily="34" charset="0"/>
              </a:rPr>
              <a:t>4) Hardware </a:t>
            </a:r>
          </a:p>
          <a:p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- MCU : </a:t>
            </a:r>
            <a:r>
              <a:rPr lang="en-IN" sz="1400" dirty="0">
                <a:latin typeface="Bahnschrift" panose="020B0502040204020203" pitchFamily="34" charset="0"/>
              </a:rPr>
              <a:t>STM32F446RET6</a:t>
            </a:r>
            <a:endParaRPr lang="en-US" sz="1400" dirty="0">
              <a:latin typeface="Bahnschrift" panose="020B0502040204020203" pitchFamily="34" charset="0"/>
              <a:cs typeface="Arial" pitchFamily="34" charset="0"/>
            </a:endParaRPr>
          </a:p>
          <a:p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- MEMS IMU: </a:t>
            </a:r>
            <a:r>
              <a:rPr lang="en-IN" sz="1400" dirty="0">
                <a:latin typeface="Bahnschrift" panose="020B0502040204020203" pitchFamily="34" charset="0"/>
              </a:rPr>
              <a:t>ICM-20948 </a:t>
            </a:r>
            <a:endParaRPr lang="en-US" sz="1400" dirty="0">
              <a:latin typeface="Bahnschrift" panose="020B0502040204020203" pitchFamily="34" charset="0"/>
              <a:cs typeface="Arial" pitchFamily="34" charset="0"/>
            </a:endParaRPr>
          </a:p>
          <a:p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- Barometer : </a:t>
            </a:r>
            <a:r>
              <a:rPr lang="en-IN" sz="1400" dirty="0">
                <a:latin typeface="Bahnschrift" panose="020B0502040204020203" pitchFamily="34" charset="0"/>
              </a:rPr>
              <a:t>BMP388 Pressure Sensor</a:t>
            </a:r>
            <a:endParaRPr lang="en-US" sz="1400" dirty="0">
              <a:latin typeface="Bahnschrift" panose="020B0502040204020203" pitchFamily="34" charset="0"/>
              <a:cs typeface="Arial" pitchFamily="34" charset="0"/>
            </a:endParaRPr>
          </a:p>
          <a:p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- GNSS : </a:t>
            </a:r>
            <a:r>
              <a:rPr lang="en-IN" sz="1400" dirty="0">
                <a:latin typeface="Bahnschrift" panose="020B0502040204020203" pitchFamily="34" charset="0"/>
              </a:rPr>
              <a:t>u-</a:t>
            </a:r>
            <a:r>
              <a:rPr lang="en-IN" sz="1400" dirty="0" err="1">
                <a:latin typeface="Bahnschrift" panose="020B0502040204020203" pitchFamily="34" charset="0"/>
              </a:rPr>
              <a:t>blox</a:t>
            </a:r>
            <a:r>
              <a:rPr lang="en-IN" sz="1400" dirty="0">
                <a:latin typeface="Bahnschrift" panose="020B0502040204020203" pitchFamily="34" charset="0"/>
              </a:rPr>
              <a:t> NEO-M8N </a:t>
            </a:r>
            <a:endParaRPr lang="en-US" sz="1400" dirty="0">
              <a:latin typeface="Bahnschrift" panose="020B0502040204020203" pitchFamily="34" charset="0"/>
              <a:cs typeface="Arial" pitchFamily="34" charset="0"/>
            </a:endParaRPr>
          </a:p>
          <a:p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- Multi-Spectral IR Sensor : </a:t>
            </a:r>
            <a:r>
              <a:rPr lang="en-IN" sz="1400" dirty="0">
                <a:latin typeface="Bahnschrift" panose="020B0502040204020203" pitchFamily="34" charset="0"/>
              </a:rPr>
              <a:t>AS72651 NIR Sensor</a:t>
            </a:r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 </a:t>
            </a:r>
          </a:p>
          <a:p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- Servo Actuators : </a:t>
            </a:r>
            <a:r>
              <a:rPr lang="en-IN" sz="1400" dirty="0">
                <a:latin typeface="Bahnschrift" panose="020B0502040204020203" pitchFamily="34" charset="0"/>
              </a:rPr>
              <a:t>EMAX ES08MA II</a:t>
            </a:r>
            <a:endParaRPr lang="en-US" sz="1400" dirty="0">
              <a:latin typeface="Bahnschrift" panose="020B0502040204020203" pitchFamily="34" charset="0"/>
              <a:cs typeface="Arial" pitchFamily="34" charset="0"/>
            </a:endParaRPr>
          </a:p>
          <a:p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- Bar Magnet : </a:t>
            </a:r>
            <a:r>
              <a:rPr lang="en-IN" sz="1400" dirty="0">
                <a:latin typeface="Bahnschrift" panose="020B0502040204020203" pitchFamily="34" charset="0"/>
              </a:rPr>
              <a:t>Neodymium N52 Bar Magnets</a:t>
            </a:r>
            <a:endParaRPr lang="en-US" sz="1400" dirty="0">
              <a:latin typeface="Bahnschrift" panose="020B0502040204020203" pitchFamily="34" charset="0"/>
              <a:cs typeface="Arial" pitchFamily="34" charset="0"/>
            </a:endParaRPr>
          </a:p>
          <a:p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- Copper Wire </a:t>
            </a:r>
          </a:p>
          <a:p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- Epoxy Resin  </a:t>
            </a:r>
          </a:p>
          <a:p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- PDB : Custom</a:t>
            </a:r>
          </a:p>
          <a:p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- </a:t>
            </a:r>
            <a:r>
              <a:rPr lang="en-IN" sz="1400" dirty="0">
                <a:latin typeface="Bahnschrift" panose="020B0502040204020203" pitchFamily="34" charset="0"/>
              </a:rPr>
              <a:t>FPC (Flexible Printed Circuit)</a:t>
            </a:r>
          </a:p>
          <a:p>
            <a:r>
              <a:rPr lang="en-US" sz="1400" dirty="0">
                <a:latin typeface="Bahnschrift" panose="020B0502040204020203" pitchFamily="34" charset="0"/>
                <a:cs typeface="Arial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68361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29701-DF74-9CFF-4113-F49B624F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60754-AEA5-8327-BFB6-8651FF81D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124595"/>
            <a:ext cx="7586258" cy="760238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latin typeface="Bell MT" panose="02020503060305020303" pitchFamily="18" charset="0"/>
              </a:rPr>
              <a:t>Feasibility and Viability</a:t>
            </a:r>
            <a:endParaRPr lang="en-IN" sz="2200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1BB57-802E-014F-C5FB-38E796DB4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6" y="365125"/>
            <a:ext cx="2139696" cy="7712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tenacity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0AC14E-39F8-03C1-AC38-CE114A480174}"/>
              </a:ext>
            </a:extLst>
          </p:cNvPr>
          <p:cNvSpPr txBox="1">
            <a:spLocks/>
          </p:cNvSpPr>
          <p:nvPr/>
        </p:nvSpPr>
        <p:spPr>
          <a:xfrm>
            <a:off x="6880928" y="1473292"/>
            <a:ext cx="5897319" cy="760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</a:p>
          <a:p>
            <a:pPr marL="457200" lvl="0" indent="-457200" algn="just" defTabSz="457200" fontAlgn="base"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endParaRPr lang="en-US" sz="1500" dirty="0">
              <a:solidFill>
                <a:prstClr val="black"/>
              </a:solidFill>
              <a:latin typeface="Bahnschrift" panose="020B0502040204020203" pitchFamily="34" charset="0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46DEE-9DCD-11DA-F859-3B78F1E22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588" y="0"/>
            <a:ext cx="2249850" cy="1062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24508B-3ED9-2588-8086-3C5C58209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23"/>
            <a:ext cx="2862072" cy="760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D9AA8F-8908-7A80-2222-4CD24FCA4155}"/>
              </a:ext>
            </a:extLst>
          </p:cNvPr>
          <p:cNvSpPr txBox="1"/>
          <p:nvPr/>
        </p:nvSpPr>
        <p:spPr>
          <a:xfrm>
            <a:off x="265176" y="3863653"/>
            <a:ext cx="609447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Century Gothic" panose="020B0502020202020204" pitchFamily="34" charset="0"/>
                <a:ea typeface="ＭＳ Ｐゴシック" pitchFamily="1" charset="-128"/>
                <a:cs typeface="Arial" pitchFamily="34" charset="0"/>
              </a:rPr>
              <a:t>Strategies for overcoming these challenges:</a:t>
            </a:r>
          </a:p>
          <a:p>
            <a:pPr marL="457200" lvl="0" indent="-4572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ea typeface="ＭＳ Ｐゴシック" pitchFamily="1" charset="-128"/>
                <a:cs typeface="Arial" pitchFamily="34" charset="0"/>
              </a:rPr>
              <a:t>Mechanism (like Spring washers) to absorb launch loads without deforming</a:t>
            </a:r>
          </a:p>
          <a:p>
            <a:pPr marL="457200" lvl="0" indent="-4572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ea typeface="ＭＳ Ｐゴシック" pitchFamily="1" charset="-128"/>
                <a:cs typeface="Arial" pitchFamily="34" charset="0"/>
              </a:rPr>
              <a:t>Solid State MEMS &amp; Increased PCB thickness </a:t>
            </a:r>
          </a:p>
          <a:p>
            <a:pPr marL="457200" lvl="0" indent="-4572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ea typeface="ＭＳ Ｐゴシック" pitchFamily="1" charset="-128"/>
                <a:cs typeface="Arial" pitchFamily="34" charset="0"/>
              </a:rPr>
              <a:t>Use multiple ground plane to absorb EMI and differential routing to reduce noise</a:t>
            </a:r>
          </a:p>
          <a:p>
            <a:pPr marL="457200" lvl="0" indent="-457200" algn="just" defTabSz="457200" fontAlgn="base"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ea typeface="ＭＳ Ｐゴシック" pitchFamily="1" charset="-128"/>
                <a:cs typeface="Arial" pitchFamily="34" charset="0"/>
              </a:rPr>
              <a:t>Protect IR with material like sapphire glass (heat-resistant up to 2000</a:t>
            </a:r>
            <a:r>
              <a:rPr lang="en-IN" sz="1400" dirty="0">
                <a:latin typeface="Bahnschrift" panose="020B0502040204020203" pitchFamily="34" charset="0"/>
              </a:rPr>
              <a:t>°</a:t>
            </a: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ea typeface="ＭＳ Ｐゴシック" pitchFamily="1" charset="-128"/>
                <a:cs typeface="Arial" pitchFamily="34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12749F-CBDC-6932-C9C6-A5D7018CF191}"/>
              </a:ext>
            </a:extLst>
          </p:cNvPr>
          <p:cNvSpPr txBox="1"/>
          <p:nvPr/>
        </p:nvSpPr>
        <p:spPr>
          <a:xfrm>
            <a:off x="265176" y="2020300"/>
            <a:ext cx="647535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Century Gothic" panose="020B0502020202020204" pitchFamily="34" charset="0"/>
                <a:cs typeface="Arial" pitchFamily="34" charset="0"/>
              </a:rPr>
              <a:t>Potential challenges and risks:</a:t>
            </a:r>
          </a:p>
          <a:p>
            <a:pPr marL="457200" lvl="0" indent="-457200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</a:rPr>
              <a:t>Under 10000 g to 20000 g of force ball bearings will not rotate due to friction giving high axial roll.</a:t>
            </a:r>
          </a:p>
          <a:p>
            <a:pPr marL="457200" lvl="0" indent="-4572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</a:rPr>
              <a:t>Components (like crystal oscillator) can shatter under such high launch pressure </a:t>
            </a:r>
          </a:p>
          <a:p>
            <a:pPr marL="457200" lvl="0" indent="-457200" algn="just" defTabSz="457200" fontAlgn="base"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r>
              <a:rPr lang="en-IN" sz="1400" dirty="0">
                <a:latin typeface="Bahnschrift" panose="020B0502040204020203" pitchFamily="34" charset="0"/>
              </a:rPr>
              <a:t>Electromagnetic Interference (EMI) due to magnets placed near E-stack </a:t>
            </a:r>
          </a:p>
          <a:p>
            <a:pPr marL="457200" lvl="0" indent="-457200" algn="just" defTabSz="457200" fontAlgn="base"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r>
              <a:rPr lang="en-IN" sz="14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</a:rPr>
              <a:t>Heat when travelling at Marc 2+, IR sensor detection becomes vague</a:t>
            </a:r>
          </a:p>
        </p:txBody>
      </p:sp>
    </p:spTree>
    <p:extLst>
      <p:ext uri="{BB962C8B-B14F-4D97-AF65-F5344CB8AC3E}">
        <p14:creationId xmlns:p14="http://schemas.microsoft.com/office/powerpoint/2010/main" val="2739125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2E89F-34B1-0984-0570-0332CCB9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604F-C05D-DCAA-6623-428735339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1" y="149840"/>
            <a:ext cx="7586258" cy="760238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latin typeface="Bell MT" panose="02020503060305020303" pitchFamily="18" charset="0"/>
              </a:rPr>
              <a:t>Impacts and Benefits</a:t>
            </a:r>
            <a:endParaRPr lang="en-IN" sz="2200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C58B4-B890-EB52-04E3-9C4F3C802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6" y="365125"/>
            <a:ext cx="2139696" cy="7712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tenacity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BCC2E5-5935-11F8-0471-CCA39D473A0D}"/>
              </a:ext>
            </a:extLst>
          </p:cNvPr>
          <p:cNvSpPr txBox="1">
            <a:spLocks/>
          </p:cNvSpPr>
          <p:nvPr/>
        </p:nvSpPr>
        <p:spPr>
          <a:xfrm>
            <a:off x="265176" y="1690688"/>
            <a:ext cx="11695176" cy="4894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Century Gothic" panose="020B0502020202020204" pitchFamily="34" charset="0"/>
                <a:ea typeface="ＭＳ Ｐゴシック" pitchFamily="1" charset="-128"/>
                <a:cs typeface="Arial" pitchFamily="34" charset="0"/>
              </a:rPr>
              <a:t>Potential impact on the target audience:</a:t>
            </a:r>
          </a:p>
          <a:p>
            <a:pPr marL="457200" lvl="0" indent="-4572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</a:rPr>
              <a:t>Reduce CEP from 100m to &lt;20m</a:t>
            </a:r>
          </a:p>
          <a:p>
            <a:pPr marL="457200" lvl="0" indent="-4572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</a:rPr>
              <a:t>Provides uninterrupted trajectory in GPS-Jammed Environments via algorithms</a:t>
            </a:r>
          </a:p>
          <a:p>
            <a:pPr marL="457200" lvl="0" indent="-4572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</a:rPr>
              <a:t>1-2 Precision shells instead of 20+ Unguided Shells</a:t>
            </a:r>
          </a:p>
          <a:p>
            <a:pPr marL="0" lvl="0" indent="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Century Gothic" panose="020B0502020202020204" pitchFamily="34" charset="0"/>
                <a:cs typeface="Arial" pitchFamily="34" charset="0"/>
              </a:rPr>
              <a:t>Benefits of the solution:</a:t>
            </a:r>
          </a:p>
          <a:p>
            <a:pPr marL="457200" lvl="0" indent="-4572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r>
              <a:rPr lang="en-US" sz="1400" dirty="0" err="1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</a:rPr>
              <a:t>SWaP</a:t>
            </a: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</a:rPr>
              <a:t> – C model provides low-cost add-on to existing shells</a:t>
            </a:r>
          </a:p>
          <a:p>
            <a:pPr marL="457200" lvl="0" indent="-4572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</a:rPr>
              <a:t>Reduces collateral damage via precision</a:t>
            </a:r>
          </a:p>
          <a:p>
            <a:pPr marL="457200" lvl="0" indent="-4572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arenR"/>
              <a:defRPr/>
            </a:pP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</a:rPr>
              <a:t>Infinite shelf life as no chemicals involved with EMI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9FA94-3A7B-F30C-8E8B-246D45EBC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5683" y="0"/>
            <a:ext cx="2249850" cy="1062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EF08A9-D702-FD3B-3F13-12BCD8C53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23"/>
            <a:ext cx="2862072" cy="76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03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1EAD9-B54F-06BF-5631-5DF27AD0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A4CA6-DAED-5262-0CB6-B09B0173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393" y="-144219"/>
            <a:ext cx="7586258" cy="1325563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latin typeface="Bell MT" panose="02020503060305020303" pitchFamily="18" charset="0"/>
              </a:rPr>
              <a:t>Research and Reference</a:t>
            </a:r>
            <a:endParaRPr lang="en-IN" sz="2200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32701-9F6C-EBEA-765D-1D5A8E200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6" y="365125"/>
            <a:ext cx="2139696" cy="7712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tenacity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794FE0-F6CD-46CA-7DAA-53CBA6D19079}"/>
              </a:ext>
            </a:extLst>
          </p:cNvPr>
          <p:cNvSpPr txBox="1">
            <a:spLocks/>
          </p:cNvSpPr>
          <p:nvPr/>
        </p:nvSpPr>
        <p:spPr>
          <a:xfrm>
            <a:off x="265176" y="1181344"/>
            <a:ext cx="11695176" cy="4894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Century Gothic" panose="020B0502020202020204" pitchFamily="34" charset="0"/>
                <a:cs typeface="Arial" pitchFamily="34" charset="0"/>
              </a:rPr>
              <a:t>Details / Links of the reference and research work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400" dirty="0">
                <a:latin typeface="Bahnschrift" panose="020B0502040204020203" pitchFamily="34" charset="0"/>
                <a:hlinkClick r:id="rId2"/>
              </a:rPr>
              <a:t>https://www.aimt.cz/index.php/aimt/article/download/1718/186/5596</a:t>
            </a:r>
            <a:r>
              <a:rPr lang="en-IN" sz="1400" dirty="0">
                <a:latin typeface="Bahnschrift" panose="020B0502040204020203" pitchFamily="34" charset="0"/>
              </a:rPr>
              <a:t> : NATO-standard 45mm shell and Point Mass Trajectory Model 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ea typeface="ＭＳ Ｐゴシック" pitchFamily="1" charset="-128"/>
                <a:cs typeface="Arial" pitchFamily="34" charset="0"/>
                <a:hlinkClick r:id="rId3"/>
              </a:rPr>
              <a:t>https://www.sunitatools.com/artillery-shells.php</a:t>
            </a: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ea typeface="ＭＳ Ｐゴシック" pitchFamily="1" charset="-128"/>
                <a:cs typeface="Arial" pitchFamily="34" charset="0"/>
              </a:rPr>
              <a:t> : Economic data and SWOT Analysis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ea typeface="ＭＳ Ｐゴシック" pitchFamily="1" charset="-128"/>
                <a:cs typeface="Arial" pitchFamily="34" charset="0"/>
                <a:hlinkClick r:id="rId4"/>
              </a:rPr>
              <a:t>https://knds.com/en/products/systems/rch-155-tracked</a:t>
            </a: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ea typeface="ＭＳ Ｐゴシック" pitchFamily="1" charset="-128"/>
                <a:cs typeface="Arial" pitchFamily="34" charset="0"/>
              </a:rPr>
              <a:t>: </a:t>
            </a:r>
            <a:r>
              <a:rPr lang="en-IN" sz="1400" cap="all" dirty="0">
                <a:latin typeface="Bahnschrift" panose="020B0502040204020203" pitchFamily="34" charset="0"/>
              </a:rPr>
              <a:t>Remote Controlled Howitzer 155 mm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400" dirty="0">
                <a:latin typeface="Bahnschrift" panose="020B0502040204020203" pitchFamily="34" charset="0"/>
                <a:hlinkClick r:id="rId5"/>
              </a:rPr>
              <a:t>https://pen.ius.edu.ba/index.php/pen/article/download/19/19/38</a:t>
            </a:r>
            <a:r>
              <a:rPr lang="en-IN" sz="1400" dirty="0">
                <a:latin typeface="Bahnschrift" panose="020B0502040204020203" pitchFamily="34" charset="0"/>
              </a:rPr>
              <a:t> : Estimation of Stresses on 155mm Artillery Projectiles During Launch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ea typeface="ＭＳ Ｐゴシック" pitchFamily="1" charset="-128"/>
                <a:cs typeface="Arial" pitchFamily="34" charset="0"/>
                <a:hlinkClick r:id="rId6"/>
              </a:rPr>
              <a:t>https://www.youtube.com/watch?v=NZOEgFLCvLU</a:t>
            </a:r>
            <a:r>
              <a:rPr lang="en-US" sz="1400" dirty="0">
                <a:solidFill>
                  <a:prstClr val="black"/>
                </a:solidFill>
                <a:latin typeface="Bahnschrift" panose="020B0502040204020203" pitchFamily="34" charset="0"/>
                <a:ea typeface="ＭＳ Ｐゴシック" pitchFamily="1" charset="-128"/>
                <a:cs typeface="Arial" pitchFamily="34" charset="0"/>
              </a:rPr>
              <a:t> : Reason for demand of 155mm shells</a:t>
            </a:r>
          </a:p>
          <a:p>
            <a:pPr marL="0" indent="0" defTabSz="45720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en-US" sz="1400" dirty="0">
              <a:solidFill>
                <a:prstClr val="black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0E456-719E-8CEB-E076-6D0AAE92A0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827" y="18508"/>
            <a:ext cx="2249850" cy="1062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F109FE-92A5-8DB6-5C4D-65584B8B93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2862072" cy="76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841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782</Words>
  <Application>Microsoft Office PowerPoint</Application>
  <PresentationFormat>Widescreen</PresentationFormat>
  <Paragraphs>88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Bahnschrift</vt:lpstr>
      <vt:lpstr>Bell MT</vt:lpstr>
      <vt:lpstr>Calibri</vt:lpstr>
      <vt:lpstr>Calibri Light</vt:lpstr>
      <vt:lpstr>Century Gothic</vt:lpstr>
      <vt:lpstr>Office Theme</vt:lpstr>
      <vt:lpstr>Smart India Hackathon 2026</vt:lpstr>
      <vt:lpstr>VECTOR</vt:lpstr>
      <vt:lpstr>Technical Approach</vt:lpstr>
      <vt:lpstr>Feasibility and Viability</vt:lpstr>
      <vt:lpstr>Impacts and Benefits</vt:lpstr>
      <vt:lpstr>Research and 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Slogan Sahoo</dc:creator>
  <cp:lastModifiedBy>Slogan Sahoo</cp:lastModifiedBy>
  <cp:revision>6</cp:revision>
  <dcterms:created xsi:type="dcterms:W3CDTF">2026-09-12T03:36:52Z</dcterms:created>
  <dcterms:modified xsi:type="dcterms:W3CDTF">2026-09-15T14:40:08Z</dcterms:modified>
</cp:coreProperties>
</file>